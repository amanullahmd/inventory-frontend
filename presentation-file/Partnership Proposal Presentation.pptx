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Urbanist Medium"/>
      <p:regular r:id="rId27"/>
      <p:bold r:id="rId28"/>
      <p:italic r:id="rId29"/>
      <p:boldItalic r:id="rId30"/>
    </p:embeddedFont>
    <p:embeddedFont>
      <p:font typeface="Urbanist SemiBold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bold.fntdata"/><Relationship Id="rId13" Type="http://schemas.openxmlformats.org/officeDocument/2006/relationships/slide" Target="slides/slide8.xml"/><Relationship Id="rId35" Type="http://schemas.openxmlformats.org/officeDocument/2006/relationships/font" Target="fonts/Urbanist-regular.fntdata"/><Relationship Id="rId12" Type="http://schemas.openxmlformats.org/officeDocument/2006/relationships/slide" Target="slides/slide7.xml"/><Relationship Id="rId34" Type="http://schemas.openxmlformats.org/officeDocument/2006/relationships/font" Target="fonts/Urbanis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Urbanist-italic.fntdata"/><Relationship Id="rId14" Type="http://schemas.openxmlformats.org/officeDocument/2006/relationships/slide" Target="slides/slide9.xml"/><Relationship Id="rId36" Type="http://schemas.openxmlformats.org/officeDocument/2006/relationships/font" Target="fonts/Urbanis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Urbanis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5e3ee66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5e3ee66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5e3ee66cd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c5e3ee66cd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5e3ee66cd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5e3ee66cd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c5e3ee66cd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c5e3ee66cd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5e3ee66c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c5e3ee66c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c5e3ee66cd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c5e3ee66cd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c5e3ee66cd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c5e3ee66cd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5e3ee66cd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5e3ee66cd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c5e3ee66cd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c5e3ee66cd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c5e3ee66cd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c5e3ee66c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5e3ee66cd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c5e3ee66cd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5e3ee66cd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c5e3ee66cd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5e3ee66cd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c5e3ee66cd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c5e3ee66cd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c5e3ee66cd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5e3ee66cd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c5e3ee66cd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c5e3ee66cd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c5e3ee66cd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5e3ee66cd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c5e3ee66cd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c5e3ee66cd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c5e3ee66cd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5e3ee66cd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c5e3ee66cd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5e3ee66cd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c5e3ee66cd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5e3ee66cd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c5e3ee66cd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5" Type="http://schemas.openxmlformats.org/officeDocument/2006/relationships/image" Target="../media/image8.jpg"/><Relationship Id="rId6" Type="http://schemas.openxmlformats.org/officeDocument/2006/relationships/image" Target="../media/image7.jpg"/><Relationship Id="rId7" Type="http://schemas.openxmlformats.org/officeDocument/2006/relationships/image" Target="../media/image6.jpg"/><Relationship Id="rId8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9.jpg"/><Relationship Id="rId5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9" name="Google Shape;439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40" name="Google Shape;440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1" name="Google Shape;441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2" name="Google Shape;442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4" name="Google Shape;444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Partnership Proposal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Company Name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7" name="Google Shape;447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48" name="Google Shape;448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49" name="Google Shape;449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 1</a:t>
            </a:r>
            <a:endParaRPr/>
          </a:p>
        </p:txBody>
      </p:sp>
      <p:sp>
        <p:nvSpPr>
          <p:cNvPr id="450" name="Google Shape;450;p4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 2</a:t>
            </a:r>
            <a:endParaRPr/>
          </a:p>
        </p:txBody>
      </p:sp>
      <p:sp>
        <p:nvSpPr>
          <p:cNvPr id="451" name="Google Shape;451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/  Month 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59" name="Google Shape;459;p42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60" name="Google Shape;460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1" name="Google Shape;461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2" name="Google Shape;462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64" name="Google Shape;464;p4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Partnership Proposal Presentation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5" name="Google Shape;465;p4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Company Name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66" name="Google Shape;466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67" name="Google Shape;467;p4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68" name="Google Shape;468;p4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69" name="Google Shape;469;p4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 1</a:t>
            </a:r>
            <a:endParaRPr/>
          </a:p>
        </p:txBody>
      </p:sp>
      <p:sp>
        <p:nvSpPr>
          <p:cNvPr id="470" name="Google Shape;470;p4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 2</a:t>
            </a:r>
            <a:endParaRPr/>
          </a:p>
        </p:txBody>
      </p:sp>
      <p:sp>
        <p:nvSpPr>
          <p:cNvPr id="471" name="Google Shape;471;p4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/  Month 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3" name="Google Shape;483;p43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484" name="Google Shape;484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5" name="Google Shape;485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6" name="Google Shape;486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8" name="Google Shape;488;p43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489" name="Google Shape;489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0" name="Google Shape;490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1" name="Google Shape;491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93" name="Google Shape;493;p43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494" name="Google Shape;494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5" name="Google Shape;495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6" name="Google Shape;496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7" name="Google Shape;497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98" name="Google Shape;498;p43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499" name="Google Shape;499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0" name="Google Shape;500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1" name="Google Shape;501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3" name="Google Shape;503;p43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504" name="Google Shape;504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5" name="Google Shape;505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6" name="Google Shape;506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8" name="Google Shape;508;p43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509" name="Google Shape;509;p4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0" name="Google Shape;510;p4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1" name="Google Shape;511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3" name="Google Shape;513;p4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514" name="Google Shape;514;p43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r>
              <a:rPr lang="en"/>
              <a:t> </a:t>
            </a:r>
            <a:endParaRPr/>
          </a:p>
        </p:txBody>
      </p:sp>
      <p:sp>
        <p:nvSpPr>
          <p:cNvPr id="515" name="Google Shape;515;p4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16" name="Google Shape;516;p43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17" name="Google Shape;517;p43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18" name="Google Shape;518;p43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19" name="Google Shape;519;p43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20" name="Google Shape;520;p43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21" name="Google Shape;521;p43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22" name="Google Shape;522;p43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23" name="Google Shape;523;p43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24" name="Google Shape;524;p43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25" name="Google Shape;525;p43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26" name="Google Shape;526;p43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27" name="Google Shape;527;p43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28" name="Google Shape;528;p43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Add section 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of beautiful young Asian woman in the morning (Provided by Getty Images)" id="533" name="Google Shape;533;p44"/>
          <p:cNvPicPr preferRelativeResize="0"/>
          <p:nvPr/>
        </p:nvPicPr>
        <p:blipFill rotWithShape="1">
          <a:blip r:embed="rId3">
            <a:alphaModFix/>
          </a:blip>
          <a:srcRect b="616" l="22580" r="12382" t="0"/>
          <a:stretch/>
        </p:blipFill>
        <p:spPr>
          <a:xfrm>
            <a:off x="4617375" y="228600"/>
            <a:ext cx="1316400" cy="1357500"/>
          </a:xfrm>
          <a:prstGeom prst="roundRect">
            <a:avLst>
              <a:gd fmla="val 17078" name="adj"/>
            </a:avLst>
          </a:prstGeom>
          <a:noFill/>
          <a:ln>
            <a:noFill/>
          </a:ln>
        </p:spPr>
      </p:pic>
      <p:sp>
        <p:nvSpPr>
          <p:cNvPr id="534" name="Google Shape;534;p44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</a:t>
            </a:r>
            <a:br>
              <a:rPr lang="en"/>
            </a:br>
            <a:r>
              <a:rPr lang="en"/>
              <a:t>the team</a:t>
            </a:r>
            <a:endParaRPr/>
          </a:p>
        </p:txBody>
      </p:sp>
      <p:sp>
        <p:nvSpPr>
          <p:cNvPr id="535" name="Google Shape;535;p4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36" name="Google Shape;536;p4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37" name="Google Shape;537;p44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portrait of a woman looking at the camera. " id="538" name="Google Shape;538;p44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45805" l="28812" r="34720" t="0"/>
          <a:stretch/>
        </p:blipFill>
        <p:spPr>
          <a:xfrm>
            <a:off x="6080700" y="228600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39" name="Google Shape;539;p44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0" name="Google Shape;540;p44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woman posing with her hand under her chin." id="541" name="Google Shape;541;p44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1029" l="31352" r="2012" t="0"/>
          <a:stretch/>
        </p:blipFill>
        <p:spPr>
          <a:xfrm>
            <a:off x="7542450" y="228600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42" name="Google Shape;542;p44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3" name="Google Shape;543;p44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man stands with his arms crossed in front of a white background. " id="544" name="Google Shape;544;p44"/>
          <p:cNvPicPr preferRelativeResize="0"/>
          <p:nvPr>
            <p:ph idx="16" type="pic"/>
          </p:nvPr>
        </p:nvPicPr>
        <p:blipFill rotWithShape="1">
          <a:blip r:embed="rId6">
            <a:alphaModFix/>
          </a:blip>
          <a:srcRect b="35658" l="30652" r="26054" t="0"/>
          <a:stretch/>
        </p:blipFill>
        <p:spPr>
          <a:xfrm>
            <a:off x="4618950" y="2295725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45" name="Google Shape;545;p44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6" name="Google Shape;546;p44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Title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A portrait of a woman with her arms crossed. " id="547" name="Google Shape;547;p44"/>
          <p:cNvPicPr preferRelativeResize="0"/>
          <p:nvPr>
            <p:ph idx="19" type="pic"/>
          </p:nvPr>
        </p:nvPicPr>
        <p:blipFill rotWithShape="1">
          <a:blip r:embed="rId7">
            <a:alphaModFix/>
          </a:blip>
          <a:srcRect b="45643" l="52441" r="10958" t="0"/>
          <a:stretch/>
        </p:blipFill>
        <p:spPr>
          <a:xfrm>
            <a:off x="6080700" y="2295725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48" name="Google Shape;548;p44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49" name="Google Shape;549;p44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man listens to music on his headphones while standing outdoors. " id="550" name="Google Shape;550;p44"/>
          <p:cNvPicPr preferRelativeResize="0"/>
          <p:nvPr>
            <p:ph idx="22" type="pic"/>
          </p:nvPr>
        </p:nvPicPr>
        <p:blipFill rotWithShape="1">
          <a:blip r:embed="rId8">
            <a:alphaModFix/>
          </a:blip>
          <a:srcRect b="20404" l="38767" r="21915" t="21245"/>
          <a:stretch/>
        </p:blipFill>
        <p:spPr>
          <a:xfrm>
            <a:off x="7542450" y="2295725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51" name="Google Shape;551;p44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2" name="Google Shape;552;p44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brightly-lit portrait of a smiling woman." id="553" name="Google Shape;553;p44"/>
          <p:cNvPicPr preferRelativeResize="0"/>
          <p:nvPr>
            <p:ph idx="2" type="pic"/>
          </p:nvPr>
        </p:nvPicPr>
        <p:blipFill rotWithShape="1">
          <a:blip r:embed="rId9">
            <a:alphaModFix/>
          </a:blip>
          <a:srcRect b="0" l="16357" r="16357" t="0"/>
          <a:stretch/>
        </p:blipFill>
        <p:spPr>
          <a:xfrm>
            <a:off x="4618950" y="228600"/>
            <a:ext cx="1370400" cy="1357500"/>
          </a:xfrm>
          <a:prstGeom prst="roundRect">
            <a:avLst>
              <a:gd fmla="val 16667" name="adj"/>
            </a:avLst>
          </a:prstGeom>
        </p:spPr>
      </p:pic>
      <p:sp>
        <p:nvSpPr>
          <p:cNvPr id="554" name="Google Shape;554;p44"/>
          <p:cNvSpPr txBox="1"/>
          <p:nvPr>
            <p:ph idx="8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5" name="Google Shape;555;p4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"/>
          <p:cNvSpPr/>
          <p:nvPr/>
        </p:nvSpPr>
        <p:spPr>
          <a:xfrm>
            <a:off x="2286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24237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46188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68139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4" name="Google Shape;564;p4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65" name="Google Shape;565;p4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66" name="Google Shape;566;p4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brightly-lit portrait of a smiling woman." id="567" name="Google Shape;567;p45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7648" r="17655" t="0"/>
          <a:stretch/>
        </p:blipFill>
        <p:spPr>
          <a:xfrm>
            <a:off x="426700" y="1896600"/>
            <a:ext cx="665400" cy="685500"/>
          </a:xfrm>
          <a:prstGeom prst="roundRect">
            <a:avLst>
              <a:gd fmla="val 16667" name="adj"/>
            </a:avLst>
          </a:prstGeom>
        </p:spPr>
      </p:pic>
      <p:sp>
        <p:nvSpPr>
          <p:cNvPr id="568" name="Google Shape;568;p45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9" name="Google Shape;569;p45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70" name="Google Shape;570;p45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mentioning their background, area of expertise, and what their role in this partnership will be.</a:t>
            </a:r>
            <a:endParaRPr/>
          </a:p>
        </p:txBody>
      </p:sp>
      <p:pic>
        <p:nvPicPr>
          <p:cNvPr descr="A portrait of a woman looking at the camera. " id="571" name="Google Shape;571;p45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39780" l="25363" r="35676" t="0"/>
          <a:stretch/>
        </p:blipFill>
        <p:spPr>
          <a:xfrm>
            <a:off x="2621800" y="1896600"/>
            <a:ext cx="665400" cy="685500"/>
          </a:xfrm>
          <a:prstGeom prst="roundRect">
            <a:avLst>
              <a:gd fmla="val 16667" name="adj"/>
            </a:avLst>
          </a:prstGeom>
        </p:spPr>
      </p:pic>
      <p:sp>
        <p:nvSpPr>
          <p:cNvPr id="572" name="Google Shape;572;p45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3" name="Google Shape;573;p45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74" name="Google Shape;574;p45"/>
          <p:cNvSpPr txBox="1"/>
          <p:nvPr>
            <p:ph idx="14" type="body"/>
          </p:nvPr>
        </p:nvSpPr>
        <p:spPr>
          <a:xfrm>
            <a:off x="2621800" y="3251425"/>
            <a:ext cx="17415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Write a brief bio mentioning their background, area of expertise, and what their role in this partnership will be.</a:t>
            </a:r>
            <a:endParaRPr/>
          </a:p>
        </p:txBody>
      </p:sp>
      <p:pic>
        <p:nvPicPr>
          <p:cNvPr descr="A man stands with his arms crossed in front of a white background. " id="575" name="Google Shape;575;p45"/>
          <p:cNvPicPr preferRelativeResize="0"/>
          <p:nvPr>
            <p:ph idx="15" type="pic"/>
          </p:nvPr>
        </p:nvPicPr>
        <p:blipFill rotWithShape="1">
          <a:blip r:embed="rId5">
            <a:alphaModFix/>
          </a:blip>
          <a:srcRect b="28972" l="27024" r="27024" t="0"/>
          <a:stretch/>
        </p:blipFill>
        <p:spPr>
          <a:xfrm>
            <a:off x="4816900" y="1896600"/>
            <a:ext cx="665400" cy="685500"/>
          </a:xfrm>
          <a:prstGeom prst="roundRect">
            <a:avLst>
              <a:gd fmla="val 16667" name="adj"/>
            </a:avLst>
          </a:prstGeom>
        </p:spPr>
      </p:pic>
      <p:sp>
        <p:nvSpPr>
          <p:cNvPr id="576" name="Google Shape;576;p45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7" name="Google Shape;577;p45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78" name="Google Shape;578;p45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Write a brief bio mentioning their background, area of expertise, and what their role in this partnership will be.</a:t>
            </a:r>
            <a:endParaRPr/>
          </a:p>
        </p:txBody>
      </p:sp>
      <p:pic>
        <p:nvPicPr>
          <p:cNvPr descr="A man listens to music on his headphones while standing outdoors. " id="579" name="Google Shape;579;p45"/>
          <p:cNvPicPr preferRelativeResize="0"/>
          <p:nvPr>
            <p:ph idx="19" type="pic"/>
          </p:nvPr>
        </p:nvPicPr>
        <p:blipFill rotWithShape="1">
          <a:blip r:embed="rId6">
            <a:alphaModFix/>
          </a:blip>
          <a:srcRect b="0" l="33856" r="14135" t="19730"/>
          <a:stretch/>
        </p:blipFill>
        <p:spPr>
          <a:xfrm>
            <a:off x="7012000" y="1896600"/>
            <a:ext cx="665400" cy="685500"/>
          </a:xfrm>
          <a:prstGeom prst="roundRect">
            <a:avLst>
              <a:gd fmla="val 16667" name="adj"/>
            </a:avLst>
          </a:prstGeom>
        </p:spPr>
      </p:pic>
      <p:sp>
        <p:nvSpPr>
          <p:cNvPr id="580" name="Google Shape;580;p45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1" name="Google Shape;581;p45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82" name="Google Shape;582;p45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Write a brief bio mentioning their background, area of expertise, and what their role in this partnership will be.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87" name="Google Shape;587;p46"/>
          <p:cNvPicPr preferRelativeResize="0"/>
          <p:nvPr/>
        </p:nvPicPr>
        <p:blipFill rotWithShape="1">
          <a:blip r:embed="rId3">
            <a:alphaModFix amt="50000"/>
          </a:blip>
          <a:srcRect b="1960" l="0" r="0" t="6839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6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Write a bold, compelling statement about what the company wants to </a:t>
            </a:r>
            <a:r>
              <a:rPr lang="en">
                <a:solidFill>
                  <a:schemeClr val="accent3"/>
                </a:solidFill>
              </a:rPr>
              <a:t>achieve.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89" name="Google Shape;589;p4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590" name="Google Shape;590;p4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91" name="Google Shape;591;p46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592" name="Google Shape;592;p4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597" name="Google Shape;597;p47"/>
          <p:cNvPicPr preferRelativeResize="0"/>
          <p:nvPr/>
        </p:nvPicPr>
        <p:blipFill rotWithShape="1">
          <a:blip r:embed="rId3">
            <a:alphaModFix/>
          </a:blip>
          <a:srcRect b="50283" l="35228" r="7527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598" name="Google Shape;598;p47"/>
          <p:cNvPicPr preferRelativeResize="0"/>
          <p:nvPr/>
        </p:nvPicPr>
        <p:blipFill rotWithShape="1">
          <a:blip r:embed="rId4">
            <a:alphaModFix/>
          </a:blip>
          <a:srcRect b="2361" l="19958" r="17041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599" name="Google Shape;599;p47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0" name="Google Shape;600;p47"/>
          <p:cNvSpPr txBox="1"/>
          <p:nvPr>
            <p:ph type="title"/>
          </p:nvPr>
        </p:nvSpPr>
        <p:spPr>
          <a:xfrm>
            <a:off x="228600" y="689725"/>
            <a:ext cx="3848400" cy="22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Write a bold, compelling statement about what the company wants to achieve.</a:t>
            </a:r>
            <a:endParaRPr/>
          </a:p>
        </p:txBody>
      </p:sp>
      <p:sp>
        <p:nvSpPr>
          <p:cNvPr id="601" name="Google Shape;601;p4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02" name="Google Shape;602;p4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03" name="Google Shape;603;p47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Explain how a partnership would help make this goal a reality and why it’s worth pursuing together. Think about how your potential partner can contribute.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604" name="Google Shape;604;p47"/>
          <p:cNvGrpSpPr/>
          <p:nvPr/>
        </p:nvGrpSpPr>
        <p:grpSpPr>
          <a:xfrm>
            <a:off x="228600" y="4114020"/>
            <a:ext cx="1742332" cy="338705"/>
            <a:chOff x="284700" y="4135245"/>
            <a:chExt cx="1742332" cy="338705"/>
          </a:xfrm>
        </p:grpSpPr>
        <p:sp>
          <p:nvSpPr>
            <p:cNvPr id="605" name="Google Shape;605;p47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Learn more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606" name="Google Shape;606;p47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607" name="Google Shape;607;p47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608" name="Google Shape;608;p47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609" name="Google Shape;609;p47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" name="Google Shape;610;p47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611" name="Google Shape;611;p47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612" name="Google Shape;612;p4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18" name="Google Shape;618;p4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19" name="Google Shape;619;p48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do</a:t>
            </a:r>
            <a:endParaRPr/>
          </a:p>
        </p:txBody>
      </p:sp>
      <p:sp>
        <p:nvSpPr>
          <p:cNvPr id="620" name="Google Shape;620;p48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Describe your company’s products and services. Keep your potential partner in mind. What do you offer that’s relevant to their business?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621" name="Google Shape;621;p48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622" name="Google Shape;622;p48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23" name="Google Shape;623;p48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624" name="Google Shape;624;p4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" name="Google Shape;625;p4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26" name="Google Shape;626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9"/>
          <p:cNvSpPr/>
          <p:nvPr/>
        </p:nvSpPr>
        <p:spPr>
          <a:xfrm>
            <a:off x="6080700" y="228600"/>
            <a:ext cx="2834700" cy="2789400"/>
          </a:xfrm>
          <a:prstGeom prst="roundRect">
            <a:avLst>
              <a:gd fmla="val 76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3154650" y="228600"/>
            <a:ext cx="2834700" cy="1354200"/>
          </a:xfrm>
          <a:prstGeom prst="roundRect">
            <a:avLst>
              <a:gd fmla="val 168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3154650" y="1663707"/>
            <a:ext cx="2834700" cy="1354200"/>
          </a:xfrm>
          <a:prstGeom prst="roundRect">
            <a:avLst>
              <a:gd fmla="val 1786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3154650" y="3098815"/>
            <a:ext cx="2834700" cy="1354200"/>
          </a:xfrm>
          <a:prstGeom prst="roundRect">
            <a:avLst>
              <a:gd fmla="val 168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6284700" y="93885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6" name="Google Shape;636;p49"/>
          <p:cNvSpPr/>
          <p:nvPr/>
        </p:nvSpPr>
        <p:spPr>
          <a:xfrm>
            <a:off x="7503510" y="93885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7" name="Google Shape;637;p49"/>
          <p:cNvSpPr/>
          <p:nvPr/>
        </p:nvSpPr>
        <p:spPr>
          <a:xfrm>
            <a:off x="6284700" y="180150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7503510" y="180150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9" name="Google Shape;639;p49"/>
          <p:cNvSpPr/>
          <p:nvPr/>
        </p:nvSpPr>
        <p:spPr>
          <a:xfrm>
            <a:off x="6080700" y="3098825"/>
            <a:ext cx="2834700" cy="1354200"/>
          </a:xfrm>
          <a:prstGeom prst="roundRect">
            <a:avLst>
              <a:gd fmla="val 138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0" name="Google Shape;640;p4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41" name="Google Shape;641;p4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42" name="Google Shape;642;p4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43" name="Google Shape;643;p4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Certifications</a:t>
            </a:r>
            <a:endParaRPr/>
          </a:p>
        </p:txBody>
      </p:sp>
      <p:sp>
        <p:nvSpPr>
          <p:cNvPr id="644" name="Google Shape;644;p4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your company’s growth, metrics, awards, and achievements.</a:t>
            </a:r>
            <a:endParaRPr/>
          </a:p>
        </p:txBody>
      </p:sp>
      <p:sp>
        <p:nvSpPr>
          <p:cNvPr id="645" name="Google Shape;645;p4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accomplishments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Industry award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or campaign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9"/>
          <p:cNvSpPr txBox="1"/>
          <p:nvPr>
            <p:ph idx="7" type="title"/>
          </p:nvPr>
        </p:nvSpPr>
        <p:spPr>
          <a:xfrm>
            <a:off x="3492938" y="1801507"/>
            <a:ext cx="1924200" cy="951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648" name="Google Shape;648;p49"/>
          <p:cNvSpPr txBox="1"/>
          <p:nvPr>
            <p:ph idx="9" type="subTitle"/>
          </p:nvPr>
        </p:nvSpPr>
        <p:spPr>
          <a:xfrm>
            <a:off x="3539697" y="2656814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share</a:t>
            </a:r>
            <a:endParaRPr/>
          </a:p>
        </p:txBody>
      </p:sp>
      <p:sp>
        <p:nvSpPr>
          <p:cNvPr id="649" name="Google Shape;649;p4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from published media coverage about your company”</a:t>
            </a:r>
            <a:endParaRPr/>
          </a:p>
        </p:txBody>
      </p:sp>
      <p:sp>
        <p:nvSpPr>
          <p:cNvPr id="650" name="Google Shape;650;p4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Link to article</a:t>
            </a:r>
            <a:endParaRPr u="none"/>
          </a:p>
        </p:txBody>
      </p:sp>
      <p:pic>
        <p:nvPicPr>
          <p:cNvPr descr="comment box with gradient color (Provided by Getty Images)" id="651" name="Google Shape;651;p49"/>
          <p:cNvPicPr preferRelativeResize="0"/>
          <p:nvPr/>
        </p:nvPicPr>
        <p:blipFill rotWithShape="1">
          <a:blip r:embed="rId3">
            <a:alphaModFix/>
          </a:blip>
          <a:srcRect b="39575" l="32460" r="41462" t="25218"/>
          <a:stretch/>
        </p:blipFill>
        <p:spPr>
          <a:xfrm>
            <a:off x="3398850" y="457201"/>
            <a:ext cx="330300" cy="33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2" name="Google Shape;652;p49"/>
          <p:cNvSpPr txBox="1"/>
          <p:nvPr>
            <p:ph idx="7" type="title"/>
          </p:nvPr>
        </p:nvSpPr>
        <p:spPr>
          <a:xfrm>
            <a:off x="3492938" y="3238745"/>
            <a:ext cx="1924200" cy="951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"/>
                <a:ea typeface="Urbanist"/>
                <a:cs typeface="Urbanist"/>
                <a:sym typeface="Urbanist"/>
              </a:rPr>
              <a:t>#00</a:t>
            </a:r>
            <a:endParaRPr/>
          </a:p>
        </p:txBody>
      </p:sp>
      <p:sp>
        <p:nvSpPr>
          <p:cNvPr id="653" name="Google Shape;653;p49"/>
          <p:cNvSpPr txBox="1"/>
          <p:nvPr>
            <p:ph idx="9" type="subTitle"/>
          </p:nvPr>
        </p:nvSpPr>
        <p:spPr>
          <a:xfrm>
            <a:off x="3539697" y="4094052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in the industry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8" name="Google Shape;658;p50"/>
          <p:cNvCxnSpPr/>
          <p:nvPr/>
        </p:nvCxnSpPr>
        <p:spPr>
          <a:xfrm>
            <a:off x="3060563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0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50"/>
          <p:cNvCxnSpPr/>
          <p:nvPr/>
        </p:nvCxnSpPr>
        <p:spPr>
          <a:xfrm>
            <a:off x="5989538" y="148505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1" name="Google Shape;661;p50"/>
          <p:cNvGrpSpPr/>
          <p:nvPr/>
        </p:nvGrpSpPr>
        <p:grpSpPr>
          <a:xfrm>
            <a:off x="2698631" y="1801500"/>
            <a:ext cx="204654" cy="204654"/>
            <a:chOff x="259788" y="1923155"/>
            <a:chExt cx="409800" cy="409800"/>
          </a:xfrm>
        </p:grpSpPr>
        <p:sp>
          <p:nvSpPr>
            <p:cNvPr id="662" name="Google Shape;662;p5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63" name="Google Shape;663;p5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64" name="Google Shape;6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5" name="Google Shape;6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66" name="Google Shape;666;p50"/>
          <p:cNvGrpSpPr/>
          <p:nvPr/>
        </p:nvGrpSpPr>
        <p:grpSpPr>
          <a:xfrm>
            <a:off x="5618381" y="1801500"/>
            <a:ext cx="204654" cy="204654"/>
            <a:chOff x="259788" y="1923155"/>
            <a:chExt cx="409800" cy="409800"/>
          </a:xfrm>
        </p:grpSpPr>
        <p:sp>
          <p:nvSpPr>
            <p:cNvPr id="667" name="Google Shape;667;p5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68" name="Google Shape;668;p5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69" name="Google Shape;669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0" name="Google Shape;670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71" name="Google Shape;671;p50"/>
          <p:cNvGrpSpPr/>
          <p:nvPr/>
        </p:nvGrpSpPr>
        <p:grpSpPr>
          <a:xfrm>
            <a:off x="8711056" y="1801500"/>
            <a:ext cx="204654" cy="204654"/>
            <a:chOff x="259788" y="1923155"/>
            <a:chExt cx="409800" cy="409800"/>
          </a:xfrm>
        </p:grpSpPr>
        <p:sp>
          <p:nvSpPr>
            <p:cNvPr id="672" name="Google Shape;672;p5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73" name="Google Shape;673;p5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74" name="Google Shape;67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5" name="Google Shape;67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76" name="Google Shape;676;p50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677" name="Google Shape;677;p50"/>
          <p:cNvSpPr txBox="1"/>
          <p:nvPr>
            <p:ph type="title"/>
          </p:nvPr>
        </p:nvSpPr>
        <p:spPr>
          <a:xfrm>
            <a:off x="228600" y="613525"/>
            <a:ext cx="72234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Write a statement about the core principles that guide your company’s actions.</a:t>
            </a:r>
            <a:endParaRPr/>
          </a:p>
        </p:txBody>
      </p:sp>
      <p:sp>
        <p:nvSpPr>
          <p:cNvPr id="678" name="Google Shape;678;p5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79" name="Google Shape;679;p5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80" name="Google Shape;680;p50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81" name="Google Shape;681;p50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82" name="Google Shape;682;p50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83" name="Google Shape;683;p50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84" name="Google Shape;684;p50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Add a value or belief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this value and explain how it reflects your company’s culture or business aspirations. </a:t>
            </a:r>
            <a:endParaRPr/>
          </a:p>
        </p:txBody>
      </p:sp>
      <p:sp>
        <p:nvSpPr>
          <p:cNvPr id="685" name="Google Shape;685;p50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Add a value or belief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value, describe how it makes your company desirable as a business partner. </a:t>
            </a:r>
            <a:endParaRPr/>
          </a:p>
        </p:txBody>
      </p:sp>
      <p:sp>
        <p:nvSpPr>
          <p:cNvPr id="686" name="Google Shape;686;p50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Add a value or belief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Examples of company values or beliefs might include teamwork, innovation, or customer focus.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1"/>
          <p:cNvSpPr/>
          <p:nvPr/>
        </p:nvSpPr>
        <p:spPr>
          <a:xfrm>
            <a:off x="3474450" y="2291225"/>
            <a:ext cx="2101200" cy="21615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2" name="Google Shape;692;p51"/>
          <p:cNvSpPr/>
          <p:nvPr/>
        </p:nvSpPr>
        <p:spPr>
          <a:xfrm>
            <a:off x="5691950" y="2291225"/>
            <a:ext cx="3223800" cy="2161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3" name="Google Shape;693;p51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customers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1"/>
          <p:cNvSpPr txBox="1"/>
          <p:nvPr>
            <p:ph type="title"/>
          </p:nvPr>
        </p:nvSpPr>
        <p:spPr>
          <a:xfrm>
            <a:off x="228600" y="369300"/>
            <a:ext cx="6480300" cy="65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 title</a:t>
            </a:r>
            <a:endParaRPr/>
          </a:p>
        </p:txBody>
      </p:sp>
      <p:sp>
        <p:nvSpPr>
          <p:cNvPr id="695" name="Google Shape;695;p5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96" name="Google Shape;696;p5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697" name="Google Shape;697;p5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Year</a:t>
            </a:r>
            <a:endParaRPr/>
          </a:p>
        </p:txBody>
      </p:sp>
      <p:pic>
        <p:nvPicPr>
          <p:cNvPr descr="A woman smiling facing the camera" id="698" name="Google Shape;698;p51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11386" l="2657" r="0" t="23733"/>
          <a:stretch/>
        </p:blipFill>
        <p:spPr>
          <a:xfrm>
            <a:off x="3795900" y="2682425"/>
            <a:ext cx="1458300" cy="1458300"/>
          </a:xfrm>
          <a:prstGeom prst="ellipse">
            <a:avLst/>
          </a:prstGeom>
        </p:spPr>
      </p:pic>
      <p:sp>
        <p:nvSpPr>
          <p:cNvPr id="699" name="Google Shape;699;p51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customer segment. Include demographic information, such as age range or location. Mention their needs, aspirations, and pain points.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1"/>
          <p:cNvSpPr txBox="1"/>
          <p:nvPr>
            <p:ph idx="7" type="body"/>
          </p:nvPr>
        </p:nvSpPr>
        <p:spPr>
          <a:xfrm>
            <a:off x="5871500" y="3553025"/>
            <a:ext cx="2864700" cy="64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Explain how your product or service solves these pain points and realizes your customers’ goals.</a:t>
            </a:r>
            <a:endParaRPr/>
          </a:p>
        </p:txBody>
      </p:sp>
      <p:sp>
        <p:nvSpPr>
          <p:cNvPr id="701" name="Google Shape;701;p51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“Summarize your key values, as if you were speaking directly to your customer segment.”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7" name="Google Shape;707;p52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8" name="Google Shape;708;p52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9" name="Google Shape;709;p52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10" name="Google Shape;710;p52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2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52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3" name="Google Shape;713;p52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4" name="Google Shape;714;p52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5" name="Google Shape;715;p5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16" name="Google Shape;716;p5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717" name="Google Shape;717;p5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718" name="Google Shape;718;p52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 title</a:t>
            </a:r>
            <a:endParaRPr/>
          </a:p>
        </p:txBody>
      </p:sp>
      <p:pic>
        <p:nvPicPr>
          <p:cNvPr descr="A woman smiles standing in front of a yellow background" id="719" name="Google Shape;719;p52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29237" l="26630" r="28346" t="3208"/>
          <a:stretch/>
        </p:blipFill>
        <p:spPr>
          <a:xfrm>
            <a:off x="381950" y="993050"/>
            <a:ext cx="850500" cy="850500"/>
          </a:xfrm>
          <a:prstGeom prst="ellipse">
            <a:avLst/>
          </a:prstGeom>
        </p:spPr>
      </p:pic>
      <p:sp>
        <p:nvSpPr>
          <p:cNvPr id="720" name="Google Shape;720;p52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Age range:</a:t>
            </a:r>
            <a:r>
              <a:rPr lang="en"/>
              <a:t> 00-00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Education level: </a:t>
            </a:r>
            <a:r>
              <a:rPr lang="en"/>
              <a:t>H</a:t>
            </a:r>
            <a:r>
              <a:rPr lang="en"/>
              <a:t>ighest education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S</a:t>
            </a:r>
            <a:r>
              <a:rPr b="1" lang="en"/>
              <a:t>tatus:</a:t>
            </a:r>
            <a:r>
              <a:rPr lang="en"/>
              <a:t> M</a:t>
            </a:r>
            <a:r>
              <a:rPr lang="en"/>
              <a:t>arital status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Location: </a:t>
            </a:r>
            <a:r>
              <a:rPr lang="en"/>
              <a:t>City or state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Archetype: </a:t>
            </a:r>
            <a:r>
              <a:rPr lang="en"/>
              <a:t>Tech-savvy</a:t>
            </a:r>
            <a:endParaRPr/>
          </a:p>
        </p:txBody>
      </p:sp>
      <p:sp>
        <p:nvSpPr>
          <p:cNvPr id="721" name="Google Shape;721;p52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and motivations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2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What does this segment want?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What motivates them?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What kind of products or services are they looking for? </a:t>
            </a:r>
            <a:endParaRPr/>
          </a:p>
        </p:txBody>
      </p:sp>
      <p:sp>
        <p:nvSpPr>
          <p:cNvPr id="723" name="Google Shape;723;p52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724" name="Google Shape;724;p52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What interferes with their needs, goals, and motivations?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●"/>
            </a:pPr>
            <a:r>
              <a:rPr lang="en"/>
              <a:t>What frustrates them in their daily life?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2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 channels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2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2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1</a:t>
            </a:r>
            <a:endParaRPr/>
          </a:p>
        </p:txBody>
      </p:sp>
      <p:sp>
        <p:nvSpPr>
          <p:cNvPr id="728" name="Google Shape;728;p52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2</a:t>
            </a:r>
            <a:endParaRPr/>
          </a:p>
        </p:txBody>
      </p:sp>
      <p:sp>
        <p:nvSpPr>
          <p:cNvPr id="729" name="Google Shape;729;p52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2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Purchasing habits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2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customers</a:t>
            </a:r>
            <a:endParaRPr/>
          </a:p>
        </p:txBody>
      </p:sp>
      <p:grpSp>
        <p:nvGrpSpPr>
          <p:cNvPr id="732" name="Google Shape;732;p52"/>
          <p:cNvGrpSpPr/>
          <p:nvPr/>
        </p:nvGrpSpPr>
        <p:grpSpPr>
          <a:xfrm>
            <a:off x="5866250" y="2391318"/>
            <a:ext cx="2950800" cy="144013"/>
            <a:chOff x="5866250" y="2438406"/>
            <a:chExt cx="2950800" cy="144013"/>
          </a:xfrm>
        </p:grpSpPr>
        <p:sp>
          <p:nvSpPr>
            <p:cNvPr id="733" name="Google Shape;733;p52"/>
            <p:cNvSpPr/>
            <p:nvPr/>
          </p:nvSpPr>
          <p:spPr>
            <a:xfrm>
              <a:off x="5866250" y="2438419"/>
              <a:ext cx="2950800" cy="144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34" name="Google Shape;734;p52"/>
            <p:cNvSpPr/>
            <p:nvPr/>
          </p:nvSpPr>
          <p:spPr>
            <a:xfrm>
              <a:off x="5866250" y="2438406"/>
              <a:ext cx="853800" cy="144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735" name="Google Shape;735;p52"/>
          <p:cNvSpPr/>
          <p:nvPr/>
        </p:nvSpPr>
        <p:spPr>
          <a:xfrm>
            <a:off x="5866250" y="1958615"/>
            <a:ext cx="2950800" cy="144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—-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descr="A series of bar graphs visualizing the user persona's proficiency with different devices. " id="736" name="Google Shape;736;p52"/>
          <p:cNvSpPr/>
          <p:nvPr/>
        </p:nvSpPr>
        <p:spPr>
          <a:xfrm>
            <a:off x="5866250" y="1958615"/>
            <a:ext cx="1505100" cy="144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7" name="Google Shape;737;p52"/>
          <p:cNvSpPr/>
          <p:nvPr/>
        </p:nvSpPr>
        <p:spPr>
          <a:xfrm>
            <a:off x="5866250" y="2824027"/>
            <a:ext cx="2433300" cy="144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8" name="Google Shape;738;p52"/>
          <p:cNvGrpSpPr/>
          <p:nvPr/>
        </p:nvGrpSpPr>
        <p:grpSpPr>
          <a:xfrm>
            <a:off x="5866250" y="2824027"/>
            <a:ext cx="2950800" cy="144008"/>
            <a:chOff x="5866250" y="2824027"/>
            <a:chExt cx="2950800" cy="144008"/>
          </a:xfrm>
        </p:grpSpPr>
        <p:sp>
          <p:nvSpPr>
            <p:cNvPr id="739" name="Google Shape;739;p52"/>
            <p:cNvSpPr/>
            <p:nvPr/>
          </p:nvSpPr>
          <p:spPr>
            <a:xfrm>
              <a:off x="5866250" y="2824035"/>
              <a:ext cx="2950800" cy="144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740" name="Google Shape;740;p52"/>
            <p:cNvSpPr/>
            <p:nvPr/>
          </p:nvSpPr>
          <p:spPr>
            <a:xfrm>
              <a:off x="5866250" y="2824027"/>
              <a:ext cx="2433300" cy="1440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741" name="Google Shape;741;p52"/>
          <p:cNvGrpSpPr/>
          <p:nvPr/>
        </p:nvGrpSpPr>
        <p:grpSpPr>
          <a:xfrm>
            <a:off x="5865600" y="3227911"/>
            <a:ext cx="2950548" cy="1258990"/>
            <a:chOff x="5865600" y="3227911"/>
            <a:chExt cx="2950548" cy="1258990"/>
          </a:xfrm>
        </p:grpSpPr>
        <p:grpSp>
          <p:nvGrpSpPr>
            <p:cNvPr id="742" name="Google Shape;742;p52"/>
            <p:cNvGrpSpPr/>
            <p:nvPr/>
          </p:nvGrpSpPr>
          <p:grpSpPr>
            <a:xfrm>
              <a:off x="7557643" y="3227911"/>
              <a:ext cx="1258506" cy="1258990"/>
              <a:chOff x="7227167" y="3027486"/>
              <a:chExt cx="1559100" cy="1559700"/>
            </a:xfrm>
          </p:grpSpPr>
          <p:sp>
            <p:nvSpPr>
              <p:cNvPr id="743" name="Google Shape;743;p52"/>
              <p:cNvSpPr/>
              <p:nvPr/>
            </p:nvSpPr>
            <p:spPr>
              <a:xfrm rot="2694635">
                <a:off x="7471537" y="3255980"/>
                <a:ext cx="1087390" cy="108739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744" name="Google Shape;744;p52"/>
              <p:cNvSpPr/>
              <p:nvPr/>
            </p:nvSpPr>
            <p:spPr>
              <a:xfrm>
                <a:off x="7455575" y="3255975"/>
                <a:ext cx="1102500" cy="1102500"/>
              </a:xfrm>
              <a:prstGeom prst="pie">
                <a:avLst>
                  <a:gd fmla="val 0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descr="A pie chart comparing sales across online stores, physical stores, and social media. " id="745" name="Google Shape;745;p52"/>
              <p:cNvSpPr/>
              <p:nvPr/>
            </p:nvSpPr>
            <p:spPr>
              <a:xfrm rot="2701323">
                <a:off x="7455386" y="3256005"/>
                <a:ext cx="1102662" cy="1102662"/>
              </a:xfrm>
              <a:prstGeom prst="pie">
                <a:avLst>
                  <a:gd fmla="val 2686087" name="adj1"/>
                  <a:gd fmla="val 13500479" name="adj2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746" name="Google Shape;746;p52"/>
            <p:cNvGrpSpPr/>
            <p:nvPr/>
          </p:nvGrpSpPr>
          <p:grpSpPr>
            <a:xfrm>
              <a:off x="5865600" y="3799828"/>
              <a:ext cx="1324750" cy="108613"/>
              <a:chOff x="5865600" y="3799828"/>
              <a:chExt cx="1324750" cy="108613"/>
            </a:xfrm>
          </p:grpSpPr>
          <p:sp>
            <p:nvSpPr>
              <p:cNvPr id="747" name="Google Shape;747;p52"/>
              <p:cNvSpPr/>
              <p:nvPr/>
            </p:nvSpPr>
            <p:spPr>
              <a:xfrm>
                <a:off x="5865600" y="380104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748" name="Google Shape;748;p52"/>
              <p:cNvSpPr txBox="1"/>
              <p:nvPr/>
            </p:nvSpPr>
            <p:spPr>
              <a:xfrm>
                <a:off x="6501550" y="3799828"/>
                <a:ext cx="6888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Online store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  <p:grpSp>
          <p:nvGrpSpPr>
            <p:cNvPr id="749" name="Google Shape;749;p52"/>
            <p:cNvGrpSpPr/>
            <p:nvPr/>
          </p:nvGrpSpPr>
          <p:grpSpPr>
            <a:xfrm>
              <a:off x="5865600" y="3995110"/>
              <a:ext cx="1324750" cy="114330"/>
              <a:chOff x="5865600" y="3995110"/>
              <a:chExt cx="1324750" cy="114330"/>
            </a:xfrm>
          </p:grpSpPr>
          <p:sp>
            <p:nvSpPr>
              <p:cNvPr id="750" name="Google Shape;750;p52"/>
              <p:cNvSpPr/>
              <p:nvPr/>
            </p:nvSpPr>
            <p:spPr>
              <a:xfrm>
                <a:off x="5865600" y="399511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751" name="Google Shape;751;p52"/>
              <p:cNvSpPr txBox="1"/>
              <p:nvPr/>
            </p:nvSpPr>
            <p:spPr>
              <a:xfrm>
                <a:off x="6501550" y="4002040"/>
                <a:ext cx="6888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Social media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  <p:grpSp>
          <p:nvGrpSpPr>
            <p:cNvPr id="752" name="Google Shape;752;p52"/>
            <p:cNvGrpSpPr/>
            <p:nvPr/>
          </p:nvGrpSpPr>
          <p:grpSpPr>
            <a:xfrm>
              <a:off x="5865600" y="4189180"/>
              <a:ext cx="1569550" cy="107410"/>
              <a:chOff x="5865600" y="4189180"/>
              <a:chExt cx="1569550" cy="107410"/>
            </a:xfrm>
          </p:grpSpPr>
          <p:sp>
            <p:nvSpPr>
              <p:cNvPr id="753" name="Google Shape;753;p52"/>
              <p:cNvSpPr/>
              <p:nvPr/>
            </p:nvSpPr>
            <p:spPr>
              <a:xfrm>
                <a:off x="5865600" y="4189180"/>
                <a:ext cx="556800" cy="107400"/>
              </a:xfrm>
              <a:prstGeom prst="roundRect">
                <a:avLst>
                  <a:gd fmla="val 50000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</a:t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754" name="Google Shape;754;p52"/>
              <p:cNvSpPr txBox="1"/>
              <p:nvPr/>
            </p:nvSpPr>
            <p:spPr>
              <a:xfrm>
                <a:off x="6501550" y="4189190"/>
                <a:ext cx="933600" cy="10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91425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Physical store</a:t>
                </a:r>
                <a:endParaRPr sz="8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</p:grpSp>
      <p:sp>
        <p:nvSpPr>
          <p:cNvPr id="755" name="Google Shape;755;p52"/>
          <p:cNvSpPr txBox="1"/>
          <p:nvPr/>
        </p:nvSpPr>
        <p:spPr>
          <a:xfrm>
            <a:off x="2662300" y="4049850"/>
            <a:ext cx="552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sz="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6" name="Google Shape;756;p52"/>
          <p:cNvSpPr txBox="1"/>
          <p:nvPr/>
        </p:nvSpPr>
        <p:spPr>
          <a:xfrm>
            <a:off x="3733250" y="4049850"/>
            <a:ext cx="552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sz="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7" name="Google Shape;757;p52"/>
          <p:cNvSpPr txBox="1"/>
          <p:nvPr/>
        </p:nvSpPr>
        <p:spPr>
          <a:xfrm>
            <a:off x="4676675" y="4049850"/>
            <a:ext cx="5523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sz="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763" name="Google Shape;763;p5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764" name="Google Shape;764;p53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Celebrate what your company achieved with this </a:t>
            </a:r>
            <a:r>
              <a:rPr lang="en"/>
              <a:t>partner</a:t>
            </a:r>
            <a:r>
              <a:rPr lang="en"/>
              <a:t>.</a:t>
            </a:r>
            <a:endParaRPr/>
          </a:p>
        </p:txBody>
      </p:sp>
      <p:sp>
        <p:nvSpPr>
          <p:cNvPr id="765" name="Google Shape;765;p53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successful partnerships</a:t>
            </a:r>
            <a:endParaRPr/>
          </a:p>
        </p:txBody>
      </p:sp>
      <p:sp>
        <p:nvSpPr>
          <p:cNvPr id="766" name="Google Shape;766;p53"/>
          <p:cNvSpPr txBox="1"/>
          <p:nvPr>
            <p:ph idx="1" type="body"/>
          </p:nvPr>
        </p:nvSpPr>
        <p:spPr>
          <a:xfrm>
            <a:off x="233850" y="3127075"/>
            <a:ext cx="2920800" cy="8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Introduce one of your current partners. Mention their industry or sector, then describe what you accomplished together. Include key initiatives and outcomes.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grpSp>
        <p:nvGrpSpPr>
          <p:cNvPr id="767" name="Google Shape;767;p53"/>
          <p:cNvGrpSpPr/>
          <p:nvPr/>
        </p:nvGrpSpPr>
        <p:grpSpPr>
          <a:xfrm>
            <a:off x="228600" y="4101995"/>
            <a:ext cx="1742332" cy="338705"/>
            <a:chOff x="228600" y="4101995"/>
            <a:chExt cx="1742332" cy="338705"/>
          </a:xfrm>
        </p:grpSpPr>
        <p:sp>
          <p:nvSpPr>
            <p:cNvPr id="768" name="Google Shape;768;p53"/>
            <p:cNvSpPr/>
            <p:nvPr/>
          </p:nvSpPr>
          <p:spPr>
            <a:xfrm>
              <a:off x="228600" y="410200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Learn more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769" name="Google Shape;769;p53"/>
            <p:cNvGrpSpPr/>
            <p:nvPr/>
          </p:nvGrpSpPr>
          <p:grpSpPr>
            <a:xfrm>
              <a:off x="1632232" y="4101995"/>
              <a:ext cx="338700" cy="338700"/>
              <a:chOff x="1688332" y="4135245"/>
              <a:chExt cx="338700" cy="338700"/>
            </a:xfrm>
          </p:grpSpPr>
          <p:sp>
            <p:nvSpPr>
              <p:cNvPr id="770" name="Google Shape;770;p53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771" name="Google Shape;771;p53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772" name="Google Shape;772;p53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3" name="Google Shape;773;p53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descr="A stand at a technological fair. " id="774" name="Google Shape;774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6862" l="6536" r="41868" t="28859"/>
          <a:stretch/>
        </p:blipFill>
        <p:spPr>
          <a:xfrm>
            <a:off x="4523050" y="737975"/>
            <a:ext cx="2164800" cy="13503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group of people analyze a chart on a long table inside an office. " id="775" name="Google Shape;775;p5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6156" l="0" r="26373" t="17482"/>
          <a:stretch/>
        </p:blipFill>
        <p:spPr>
          <a:xfrm>
            <a:off x="6752100" y="737775"/>
            <a:ext cx="2164800" cy="1350300"/>
          </a:xfrm>
          <a:prstGeom prst="roundRect">
            <a:avLst>
              <a:gd fmla="val 16667" name="adj"/>
            </a:avLst>
          </a:prstGeom>
        </p:spPr>
      </p:pic>
      <p:pic>
        <p:nvPicPr>
          <p:cNvPr descr="Cable installation for tech company." id="776" name="Google Shape;776;p5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7584" l="0" r="0" t="33117"/>
          <a:stretch/>
        </p:blipFill>
        <p:spPr>
          <a:xfrm>
            <a:off x="4523050" y="2158000"/>
            <a:ext cx="4394100" cy="2282700"/>
          </a:xfrm>
          <a:prstGeom prst="roundRect">
            <a:avLst>
              <a:gd fmla="val 16667" name="adj"/>
            </a:avLst>
          </a:prstGeom>
        </p:spPr>
      </p:pic>
      <p:sp>
        <p:nvSpPr>
          <p:cNvPr id="777" name="Google Shape;777;p5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4"/>
          <p:cNvSpPr/>
          <p:nvPr/>
        </p:nvSpPr>
        <p:spPr>
          <a:xfrm>
            <a:off x="315465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3" name="Google Shape;783;p54"/>
          <p:cNvSpPr/>
          <p:nvPr/>
        </p:nvSpPr>
        <p:spPr>
          <a:xfrm>
            <a:off x="3386711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784" name="Google Shape;784;p54"/>
          <p:cNvGrpSpPr/>
          <p:nvPr/>
        </p:nvGrpSpPr>
        <p:grpSpPr>
          <a:xfrm>
            <a:off x="4558464" y="3950131"/>
            <a:ext cx="282600" cy="282600"/>
            <a:chOff x="4558464" y="3950131"/>
            <a:chExt cx="282600" cy="282600"/>
          </a:xfrm>
        </p:grpSpPr>
        <p:sp>
          <p:nvSpPr>
            <p:cNvPr id="785" name="Google Shape;785;p54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86" name="Google Shape;786;p54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787" name="Google Shape;787;p54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8" name="Google Shape;788;p54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89" name="Google Shape;789;p54"/>
          <p:cNvSpPr/>
          <p:nvPr/>
        </p:nvSpPr>
        <p:spPr>
          <a:xfrm>
            <a:off x="6080700" y="228600"/>
            <a:ext cx="2834700" cy="4224000"/>
          </a:xfrm>
          <a:prstGeom prst="roundRect">
            <a:avLst>
              <a:gd fmla="val 87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90" name="Google Shape;790;p54"/>
          <p:cNvSpPr/>
          <p:nvPr/>
        </p:nvSpPr>
        <p:spPr>
          <a:xfrm>
            <a:off x="6309307" y="3949989"/>
            <a:ext cx="1168200" cy="282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791" name="Google Shape;791;p54"/>
          <p:cNvGrpSpPr/>
          <p:nvPr/>
        </p:nvGrpSpPr>
        <p:grpSpPr>
          <a:xfrm>
            <a:off x="7477339" y="3950069"/>
            <a:ext cx="282600" cy="282600"/>
            <a:chOff x="4558464" y="3950131"/>
            <a:chExt cx="282600" cy="282600"/>
          </a:xfrm>
        </p:grpSpPr>
        <p:sp>
          <p:nvSpPr>
            <p:cNvPr id="792" name="Google Shape;792;p54"/>
            <p:cNvSpPr/>
            <p:nvPr/>
          </p:nvSpPr>
          <p:spPr>
            <a:xfrm rot="-5400000">
              <a:off x="4558464" y="3950131"/>
              <a:ext cx="282600" cy="28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93" name="Google Shape;793;p54"/>
            <p:cNvGrpSpPr/>
            <p:nvPr/>
          </p:nvGrpSpPr>
          <p:grpSpPr>
            <a:xfrm rot="-5400000">
              <a:off x="4642088" y="4054593"/>
              <a:ext cx="141588" cy="73485"/>
              <a:chOff x="498725" y="2069800"/>
              <a:chExt cx="205200" cy="106500"/>
            </a:xfrm>
          </p:grpSpPr>
          <p:cxnSp>
            <p:nvCxnSpPr>
              <p:cNvPr id="794" name="Google Shape;794;p54"/>
              <p:cNvCxnSpPr/>
              <p:nvPr/>
            </p:nvCxnSpPr>
            <p:spPr>
              <a:xfrm flipH="1" rot="-5400000">
                <a:off x="498725" y="2069800"/>
                <a:ext cx="103500" cy="10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" name="Google Shape;795;p54"/>
              <p:cNvCxnSpPr/>
              <p:nvPr/>
            </p:nvCxnSpPr>
            <p:spPr>
              <a:xfrm rot="5400000">
                <a:off x="596825" y="2069200"/>
                <a:ext cx="106500" cy="10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96" name="Google Shape;796;p54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Partnership 1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797" name="Google Shape;797;p54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798" name="Google Shape;798;p5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9" name="Google Shape;799;p54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Partnership 2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00" name="Google Shape;800;p54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</a:t>
            </a:r>
            <a:r>
              <a:rPr lang="en"/>
              <a:t>Year</a:t>
            </a:r>
            <a:endParaRPr/>
          </a:p>
        </p:txBody>
      </p:sp>
      <p:sp>
        <p:nvSpPr>
          <p:cNvPr id="801" name="Google Shape;801;p54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02" name="Google Shape;802;p5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Our successful partnerships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03" name="Google Shape;803;p54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804" name="Google Shape;804;p54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805" name="Google Shape;805;p5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06" name="Google Shape;806;p5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807" name="Google Shape;807;p5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5"/>
          <p:cNvSpPr/>
          <p:nvPr/>
        </p:nvSpPr>
        <p:spPr>
          <a:xfrm>
            <a:off x="6080700" y="228600"/>
            <a:ext cx="2835000" cy="2062800"/>
          </a:xfrm>
          <a:prstGeom prst="roundRect">
            <a:avLst>
              <a:gd fmla="val 1185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3" name="Google Shape;813;p55"/>
          <p:cNvSpPr/>
          <p:nvPr/>
        </p:nvSpPr>
        <p:spPr>
          <a:xfrm flipH="1">
            <a:off x="78926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4" name="Google Shape;814;p55"/>
          <p:cNvSpPr/>
          <p:nvPr/>
        </p:nvSpPr>
        <p:spPr>
          <a:xfrm>
            <a:off x="3154500" y="228600"/>
            <a:ext cx="2835000" cy="20628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5" name="Google Shape;815;p55"/>
          <p:cNvSpPr/>
          <p:nvPr/>
        </p:nvSpPr>
        <p:spPr>
          <a:xfrm flipH="1">
            <a:off x="49664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6080700" y="2389841"/>
            <a:ext cx="2835000" cy="2062800"/>
          </a:xfrm>
          <a:prstGeom prst="roundRect">
            <a:avLst>
              <a:gd fmla="val 116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7" name="Google Shape;817;p55"/>
          <p:cNvSpPr/>
          <p:nvPr/>
        </p:nvSpPr>
        <p:spPr>
          <a:xfrm flipH="1">
            <a:off x="78926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8" name="Google Shape;818;p55"/>
          <p:cNvSpPr/>
          <p:nvPr/>
        </p:nvSpPr>
        <p:spPr>
          <a:xfrm>
            <a:off x="3154500" y="2389841"/>
            <a:ext cx="2835000" cy="2062800"/>
          </a:xfrm>
          <a:prstGeom prst="roundRect">
            <a:avLst>
              <a:gd fmla="val 1087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9" name="Google Shape;819;p55"/>
          <p:cNvSpPr/>
          <p:nvPr/>
        </p:nvSpPr>
        <p:spPr>
          <a:xfrm flipH="1">
            <a:off x="49664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0" name="Google Shape;820;p55"/>
          <p:cNvSpPr/>
          <p:nvPr/>
        </p:nvSpPr>
        <p:spPr>
          <a:xfrm flipH="1">
            <a:off x="78926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1" name="Google Shape;821;p55"/>
          <p:cNvSpPr/>
          <p:nvPr/>
        </p:nvSpPr>
        <p:spPr>
          <a:xfrm flipH="1">
            <a:off x="4966475" y="457200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2" name="Google Shape;822;p55"/>
          <p:cNvSpPr/>
          <p:nvPr/>
        </p:nvSpPr>
        <p:spPr>
          <a:xfrm flipH="1">
            <a:off x="78926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3" name="Google Shape;823;p55"/>
          <p:cNvSpPr/>
          <p:nvPr/>
        </p:nvSpPr>
        <p:spPr>
          <a:xfrm flipH="1">
            <a:off x="4966475" y="2621861"/>
            <a:ext cx="900000" cy="36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LOGO</a:t>
            </a:r>
            <a:endParaRPr b="1" sz="1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4" name="Google Shape;824;p55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Our successful partnerships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25" name="Google Shape;825;p55"/>
          <p:cNvSpPr txBox="1"/>
          <p:nvPr>
            <p:ph idx="1" type="subTitle"/>
          </p:nvPr>
        </p:nvSpPr>
        <p:spPr>
          <a:xfrm>
            <a:off x="322200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26" name="Google Shape;826;p55"/>
          <p:cNvSpPr txBox="1"/>
          <p:nvPr>
            <p:ph idx="2" type="subTitle"/>
          </p:nvPr>
        </p:nvSpPr>
        <p:spPr>
          <a:xfrm>
            <a:off x="47334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827" name="Google Shape;827;p5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828" name="Google Shape;828;p55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Partnership 1</a:t>
            </a:r>
            <a:endParaRPr/>
          </a:p>
        </p:txBody>
      </p:sp>
      <p:sp>
        <p:nvSpPr>
          <p:cNvPr id="829" name="Google Shape;829;p55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0" name="Google Shape;830;p55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Partnership 2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31" name="Google Shape;831;p55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2" name="Google Shape;832;p55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Partnership 4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33" name="Google Shape;833;p55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Quarter, 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5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5" name="Google Shape;835;p55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 Medium"/>
                <a:ea typeface="Urbanist Medium"/>
                <a:cs typeface="Urbanist Medium"/>
                <a:sym typeface="Urbanist Medium"/>
              </a:rPr>
              <a:t>Partnership 3</a:t>
            </a:r>
            <a:endParaRPr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36" name="Google Shape;836;p55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Quarter, 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5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Introduce one of your current partners. Mention their industry or sector, then describe what you accomplished together. Include key initiatives and outcomes.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8" name="Google Shape;838;p55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839" name="Google Shape;839;p55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Quarter, 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we can do together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A rugged brown and white texture, like hundreds of tiny threads." id="845" name="Google Shape;845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246150" y="237650"/>
            <a:ext cx="4196398" cy="4438199"/>
          </a:xfrm>
          <a:prstGeom prst="rect">
            <a:avLst/>
          </a:prstGeom>
        </p:spPr>
      </p:pic>
      <p:sp>
        <p:nvSpPr>
          <p:cNvPr id="846" name="Google Shape;846;p56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why this partnership would be beneficial for both parties. Show how your values and goals align, and explain how the partnership could help you realise these goals.</a:t>
            </a:r>
            <a:endParaRPr/>
          </a:p>
        </p:txBody>
      </p:sp>
      <p:sp>
        <p:nvSpPr>
          <p:cNvPr id="847" name="Google Shape;847;p56"/>
          <p:cNvSpPr txBox="1"/>
          <p:nvPr>
            <p:ph idx="3" type="title"/>
          </p:nvPr>
        </p:nvSpPr>
        <p:spPr>
          <a:xfrm>
            <a:off x="4591800" y="738425"/>
            <a:ext cx="4235400" cy="197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statement about why you want to work with this partner.</a:t>
            </a:r>
            <a:endParaRPr/>
          </a:p>
        </p:txBody>
      </p:sp>
      <p:sp>
        <p:nvSpPr>
          <p:cNvPr id="848" name="Google Shape;848;p5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49" name="Google Shape;849;p5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850" name="Google Shape;850;p5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7"/>
          <p:cNvSpPr/>
          <p:nvPr/>
        </p:nvSpPr>
        <p:spPr>
          <a:xfrm>
            <a:off x="2344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56" name="Google Shape;856;p57"/>
          <p:cNvSpPr/>
          <p:nvPr/>
        </p:nvSpPr>
        <p:spPr>
          <a:xfrm>
            <a:off x="20343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57" name="Google Shape;857;p57"/>
          <p:cNvSpPr/>
          <p:nvPr/>
        </p:nvSpPr>
        <p:spPr>
          <a:xfrm>
            <a:off x="38342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56341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59" name="Google Shape;859;p57"/>
          <p:cNvSpPr/>
          <p:nvPr/>
        </p:nvSpPr>
        <p:spPr>
          <a:xfrm>
            <a:off x="7434075" y="4113613"/>
            <a:ext cx="14580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cxnSp>
        <p:nvCxnSpPr>
          <p:cNvPr id="860" name="Google Shape;860;p57"/>
          <p:cNvCxnSpPr/>
          <p:nvPr/>
        </p:nvCxnSpPr>
        <p:spPr>
          <a:xfrm>
            <a:off x="234475" y="2205188"/>
            <a:ext cx="76362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1" name="Google Shape;861;p57"/>
          <p:cNvSpPr/>
          <p:nvPr/>
        </p:nvSpPr>
        <p:spPr>
          <a:xfrm>
            <a:off x="228600" y="1895390"/>
            <a:ext cx="602700" cy="6027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62" name="Google Shape;862;p57"/>
          <p:cNvSpPr/>
          <p:nvPr/>
        </p:nvSpPr>
        <p:spPr>
          <a:xfrm>
            <a:off x="2034363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63" name="Google Shape;863;p57"/>
          <p:cNvSpPr/>
          <p:nvPr/>
        </p:nvSpPr>
        <p:spPr>
          <a:xfrm>
            <a:off x="3829950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64" name="Google Shape;864;p57"/>
          <p:cNvSpPr/>
          <p:nvPr/>
        </p:nvSpPr>
        <p:spPr>
          <a:xfrm>
            <a:off x="5645375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65" name="Google Shape;865;p57"/>
          <p:cNvSpPr/>
          <p:nvPr/>
        </p:nvSpPr>
        <p:spPr>
          <a:xfrm>
            <a:off x="7460789" y="1895390"/>
            <a:ext cx="602700" cy="602700"/>
          </a:xfrm>
          <a:prstGeom prst="roundRect">
            <a:avLst>
              <a:gd fmla="val 288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866" name="Google Shape;866;p57"/>
          <p:cNvSpPr txBox="1"/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partnership will work</a:t>
            </a:r>
            <a:endParaRPr/>
          </a:p>
        </p:txBody>
      </p:sp>
      <p:sp>
        <p:nvSpPr>
          <p:cNvPr id="867" name="Google Shape;867;p57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68" name="Google Shape;868;p57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69" name="Google Shape;869;p57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870" name="Google Shape;870;p57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871" name="Google Shape;871;p57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72" name="Google Shape;872;p57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73" name="Google Shape;873;p57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74" name="Google Shape;874;p57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or milestone</a:t>
            </a:r>
            <a:endParaRPr/>
          </a:p>
        </p:txBody>
      </p:sp>
      <p:sp>
        <p:nvSpPr>
          <p:cNvPr id="875" name="Google Shape;875;p57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or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7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77" name="Google Shape;877;p57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78" name="Google Shape;878;p57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79" name="Google Shape;879;p57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80" name="Google Shape;880;p57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881" name="Google Shape;881;p57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82" name="Google Shape;882;p57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or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7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or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7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or milestone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7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 how the partnership will grow and develop in the coming months or </a:t>
            </a:r>
            <a:r>
              <a:rPr lang="en"/>
              <a:t>years</a:t>
            </a:r>
            <a:r>
              <a:rPr lang="en"/>
              <a:t>.</a:t>
            </a:r>
            <a:endParaRPr/>
          </a:p>
        </p:txBody>
      </p:sp>
      <p:sp>
        <p:nvSpPr>
          <p:cNvPr id="886" name="Google Shape;886;p57"/>
          <p:cNvSpPr txBox="1"/>
          <p:nvPr>
            <p:ph idx="1" type="body"/>
          </p:nvPr>
        </p:nvSpPr>
        <p:spPr>
          <a:xfrm>
            <a:off x="2054000" y="2979150"/>
            <a:ext cx="1377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Include details such as shared goals or deadlines.</a:t>
            </a:r>
            <a:endParaRPr/>
          </a:p>
        </p:txBody>
      </p:sp>
      <p:sp>
        <p:nvSpPr>
          <p:cNvPr id="887" name="Google Shape;887;p57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another example. Think about how you’ll manage check-ins and reviews.</a:t>
            </a:r>
            <a:endParaRPr/>
          </a:p>
        </p:txBody>
      </p:sp>
      <p:sp>
        <p:nvSpPr>
          <p:cNvPr id="888" name="Google Shape;888;p57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how you’ll approach joint initiatives, projects, or product launches.</a:t>
            </a:r>
            <a:endParaRPr/>
          </a:p>
        </p:txBody>
      </p:sp>
      <p:sp>
        <p:nvSpPr>
          <p:cNvPr id="889" name="Google Shape;889;p57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or milestones as you want. Duplicate this slide if you need to add more.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895" name="Google Shape;895;p5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896" name="Google Shape;896;p58"/>
          <p:cNvSpPr txBox="1"/>
          <p:nvPr>
            <p:ph type="title"/>
          </p:nvPr>
        </p:nvSpPr>
        <p:spPr>
          <a:xfrm>
            <a:off x="228600" y="640925"/>
            <a:ext cx="4637700" cy="142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Invite your potential partner to join your business.</a:t>
            </a:r>
            <a:endParaRPr/>
          </a:p>
        </p:txBody>
      </p:sp>
      <p:sp>
        <p:nvSpPr>
          <p:cNvPr id="897" name="Google Shape;897;p58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Mention 3 or 4 partnership benefits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Each benefit should build on the information outlined in the previous slides</a:t>
            </a:r>
            <a:endParaRPr sz="1200"/>
          </a:p>
          <a:p>
            <a:pPr indent="-2095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</a:pPr>
            <a:r>
              <a:rPr lang="en" sz="1200"/>
              <a:t>Include key performance indicators that support your proposal, such as the projected return on investment (ROI) for both parties</a:t>
            </a:r>
            <a:endParaRPr sz="1200"/>
          </a:p>
        </p:txBody>
      </p:sp>
      <p:pic>
        <p:nvPicPr>
          <p:cNvPr descr="A luminous galaxy." id="898" name="Google Shape;898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899" name="Google Shape;899;p5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work together</a:t>
            </a:r>
            <a:endParaRPr/>
          </a:p>
        </p:txBody>
      </p:sp>
      <p:sp>
        <p:nvSpPr>
          <p:cNvPr id="900" name="Google Shape;900;p5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906" name="Google Shape;906;p5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907" name="Google Shape;907;p59"/>
          <p:cNvSpPr txBox="1"/>
          <p:nvPr>
            <p:ph type="title"/>
          </p:nvPr>
        </p:nvSpPr>
        <p:spPr>
          <a:xfrm>
            <a:off x="228600" y="385918"/>
            <a:ext cx="6480300" cy="1034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Invite your potential partner to join your business. </a:t>
            </a:r>
            <a:endParaRPr/>
          </a:p>
        </p:txBody>
      </p:sp>
      <p:grpSp>
        <p:nvGrpSpPr>
          <p:cNvPr id="908" name="Google Shape;908;p59"/>
          <p:cNvGrpSpPr/>
          <p:nvPr/>
        </p:nvGrpSpPr>
        <p:grpSpPr>
          <a:xfrm>
            <a:off x="4618950" y="1338450"/>
            <a:ext cx="2595900" cy="3047725"/>
            <a:chOff x="4618950" y="1338450"/>
            <a:chExt cx="2595900" cy="3047725"/>
          </a:xfrm>
        </p:grpSpPr>
        <p:grpSp>
          <p:nvGrpSpPr>
            <p:cNvPr id="909" name="Google Shape;909;p59"/>
            <p:cNvGrpSpPr/>
            <p:nvPr/>
          </p:nvGrpSpPr>
          <p:grpSpPr>
            <a:xfrm>
              <a:off x="4618950" y="1338450"/>
              <a:ext cx="2595900" cy="2595995"/>
              <a:chOff x="4618950" y="1338450"/>
              <a:chExt cx="2595900" cy="2595995"/>
            </a:xfrm>
          </p:grpSpPr>
          <p:grpSp>
            <p:nvGrpSpPr>
              <p:cNvPr id="910" name="Google Shape;910;p59"/>
              <p:cNvGrpSpPr/>
              <p:nvPr/>
            </p:nvGrpSpPr>
            <p:grpSpPr>
              <a:xfrm>
                <a:off x="4618950" y="1338450"/>
                <a:ext cx="2595900" cy="2595900"/>
                <a:chOff x="4618950" y="1338450"/>
                <a:chExt cx="2595900" cy="2595900"/>
              </a:xfrm>
            </p:grpSpPr>
            <p:sp>
              <p:nvSpPr>
                <p:cNvPr id="911" name="Google Shape;911;p59"/>
                <p:cNvSpPr/>
                <p:nvPr/>
              </p:nvSpPr>
              <p:spPr>
                <a:xfrm>
                  <a:off x="4618950" y="1338450"/>
                  <a:ext cx="2595900" cy="25959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  <p:sp>
              <p:nvSpPr>
                <p:cNvPr id="912" name="Google Shape;912;p59"/>
                <p:cNvSpPr txBox="1"/>
                <p:nvPr/>
              </p:nvSpPr>
              <p:spPr>
                <a:xfrm>
                  <a:off x="5435700" y="1642000"/>
                  <a:ext cx="9624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chemeClr val="lt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Projected</a:t>
                  </a:r>
                  <a:endParaRPr b="1" sz="1000">
                    <a:solidFill>
                      <a:schemeClr val="lt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  <a:p>
                  <a:pPr indent="0" lvl="0" marL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lt1"/>
                      </a:solidFill>
                      <a:latin typeface="Urbanist Medium"/>
                      <a:ea typeface="Urbanist Medium"/>
                      <a:cs typeface="Urbanist Medium"/>
                      <a:sym typeface="Urbanist Medium"/>
                    </a:rPr>
                    <a:t>00%</a:t>
                  </a:r>
                  <a:endParaRPr sz="1000">
                    <a:solidFill>
                      <a:schemeClr val="lt1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endParaRPr>
                </a:p>
              </p:txBody>
            </p:sp>
          </p:grpSp>
          <p:grpSp>
            <p:nvGrpSpPr>
              <p:cNvPr id="913" name="Google Shape;913;p59"/>
              <p:cNvGrpSpPr/>
              <p:nvPr/>
            </p:nvGrpSpPr>
            <p:grpSpPr>
              <a:xfrm>
                <a:off x="5380050" y="2860744"/>
                <a:ext cx="1073700" cy="1073700"/>
                <a:chOff x="5380050" y="2860744"/>
                <a:chExt cx="1073700" cy="1073700"/>
              </a:xfrm>
            </p:grpSpPr>
            <p:sp>
              <p:nvSpPr>
                <p:cNvPr id="914" name="Google Shape;914;p59"/>
                <p:cNvSpPr/>
                <p:nvPr/>
              </p:nvSpPr>
              <p:spPr>
                <a:xfrm>
                  <a:off x="5380050" y="2860744"/>
                  <a:ext cx="1073700" cy="10737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  <p:sp>
              <p:nvSpPr>
                <p:cNvPr id="915" name="Google Shape;915;p59"/>
                <p:cNvSpPr txBox="1"/>
                <p:nvPr/>
              </p:nvSpPr>
              <p:spPr>
                <a:xfrm>
                  <a:off x="5570700" y="3274425"/>
                  <a:ext cx="6924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chemeClr val="dk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Current</a:t>
                  </a:r>
                  <a:endParaRPr b="1" sz="1000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  <a:p>
                  <a:pPr indent="0" lvl="0" marL="0" rtl="0" algn="ctr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>
                      <a:solidFill>
                        <a:schemeClr val="dk1"/>
                      </a:solidFill>
                      <a:latin typeface="Urbanist Medium"/>
                      <a:ea typeface="Urbanist Medium"/>
                      <a:cs typeface="Urbanist Medium"/>
                      <a:sym typeface="Urbanist Medium"/>
                    </a:rPr>
                    <a:t>00%</a:t>
                  </a:r>
                  <a:endParaRPr sz="1000">
                    <a:solidFill>
                      <a:schemeClr val="dk1"/>
                    </a:solidFill>
                    <a:latin typeface="Urbanist Medium"/>
                    <a:ea typeface="Urbanist Medium"/>
                    <a:cs typeface="Urbanist Medium"/>
                    <a:sym typeface="Urbanist Medium"/>
                  </a:endParaRPr>
                </a:p>
              </p:txBody>
            </p:sp>
          </p:grpSp>
        </p:grpSp>
        <p:sp>
          <p:nvSpPr>
            <p:cNvPr id="916" name="Google Shape;916;p59"/>
            <p:cNvSpPr txBox="1"/>
            <p:nvPr/>
          </p:nvSpPr>
          <p:spPr>
            <a:xfrm>
              <a:off x="5300700" y="4048075"/>
              <a:ext cx="1232400" cy="3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Market reach</a:t>
              </a:r>
              <a:endPara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917" name="Google Shape;917;p59"/>
          <p:cNvGrpSpPr/>
          <p:nvPr/>
        </p:nvGrpSpPr>
        <p:grpSpPr>
          <a:xfrm>
            <a:off x="7528950" y="812875"/>
            <a:ext cx="1232400" cy="3573300"/>
            <a:chOff x="7528950" y="812875"/>
            <a:chExt cx="1232400" cy="3573300"/>
          </a:xfrm>
        </p:grpSpPr>
        <p:sp>
          <p:nvSpPr>
            <p:cNvPr id="918" name="Google Shape;918;p59"/>
            <p:cNvSpPr txBox="1"/>
            <p:nvPr/>
          </p:nvSpPr>
          <p:spPr>
            <a:xfrm>
              <a:off x="7528950" y="4048075"/>
              <a:ext cx="1232400" cy="3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ROI</a:t>
              </a:r>
              <a:endPara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grpSp>
          <p:nvGrpSpPr>
            <p:cNvPr id="919" name="Google Shape;919;p59"/>
            <p:cNvGrpSpPr/>
            <p:nvPr/>
          </p:nvGrpSpPr>
          <p:grpSpPr>
            <a:xfrm>
              <a:off x="8146375" y="812875"/>
              <a:ext cx="388500" cy="3121700"/>
              <a:chOff x="8146375" y="812875"/>
              <a:chExt cx="388500" cy="3121700"/>
            </a:xfrm>
          </p:grpSpPr>
          <p:sp>
            <p:nvSpPr>
              <p:cNvPr id="920" name="Google Shape;920;p59"/>
              <p:cNvSpPr txBox="1"/>
              <p:nvPr/>
            </p:nvSpPr>
            <p:spPr>
              <a:xfrm>
                <a:off x="8146375" y="812875"/>
                <a:ext cx="388500" cy="33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00%</a:t>
                </a:r>
                <a:endParaRPr sz="10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  <p:grpSp>
            <p:nvGrpSpPr>
              <p:cNvPr id="921" name="Google Shape;921;p59"/>
              <p:cNvGrpSpPr/>
              <p:nvPr/>
            </p:nvGrpSpPr>
            <p:grpSpPr>
              <a:xfrm>
                <a:off x="8146375" y="1164975"/>
                <a:ext cx="388500" cy="2769600"/>
                <a:chOff x="8146375" y="1164975"/>
                <a:chExt cx="388500" cy="2769600"/>
              </a:xfrm>
            </p:grpSpPr>
            <p:sp>
              <p:nvSpPr>
                <p:cNvPr id="922" name="Google Shape;922;p59"/>
                <p:cNvSpPr/>
                <p:nvPr/>
              </p:nvSpPr>
              <p:spPr>
                <a:xfrm>
                  <a:off x="8146375" y="1164975"/>
                  <a:ext cx="388500" cy="27696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  <p:sp>
              <p:nvSpPr>
                <p:cNvPr id="923" name="Google Shape;923;p59"/>
                <p:cNvSpPr txBox="1"/>
                <p:nvPr/>
              </p:nvSpPr>
              <p:spPr>
                <a:xfrm>
                  <a:off x="8146375" y="3596475"/>
                  <a:ext cx="388500" cy="33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chemeClr val="dk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Year</a:t>
                  </a:r>
                  <a:endParaRPr sz="800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</p:grpSp>
        </p:grpSp>
        <p:grpSp>
          <p:nvGrpSpPr>
            <p:cNvPr id="924" name="Google Shape;924;p59"/>
            <p:cNvGrpSpPr/>
            <p:nvPr/>
          </p:nvGrpSpPr>
          <p:grpSpPr>
            <a:xfrm>
              <a:off x="7727125" y="2860750"/>
              <a:ext cx="388500" cy="1073825"/>
              <a:chOff x="7727125" y="2860750"/>
              <a:chExt cx="388500" cy="1073825"/>
            </a:xfrm>
          </p:grpSpPr>
          <p:grpSp>
            <p:nvGrpSpPr>
              <p:cNvPr id="925" name="Google Shape;925;p59"/>
              <p:cNvGrpSpPr/>
              <p:nvPr/>
            </p:nvGrpSpPr>
            <p:grpSpPr>
              <a:xfrm>
                <a:off x="7727125" y="3212050"/>
                <a:ext cx="388500" cy="722525"/>
                <a:chOff x="7727125" y="3212050"/>
                <a:chExt cx="388500" cy="722525"/>
              </a:xfrm>
            </p:grpSpPr>
            <p:sp>
              <p:nvSpPr>
                <p:cNvPr id="926" name="Google Shape;926;p59"/>
                <p:cNvSpPr/>
                <p:nvPr/>
              </p:nvSpPr>
              <p:spPr>
                <a:xfrm>
                  <a:off x="7727125" y="3212050"/>
                  <a:ext cx="388500" cy="7224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  <p:sp>
              <p:nvSpPr>
                <p:cNvPr id="927" name="Google Shape;927;p59"/>
                <p:cNvSpPr txBox="1"/>
                <p:nvPr/>
              </p:nvSpPr>
              <p:spPr>
                <a:xfrm>
                  <a:off x="7727125" y="3596475"/>
                  <a:ext cx="388500" cy="33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>
                      <a:solidFill>
                        <a:schemeClr val="dk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Year</a:t>
                  </a:r>
                  <a:endParaRPr sz="800">
                    <a:solidFill>
                      <a:schemeClr val="dk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</p:grpSp>
          <p:sp>
            <p:nvSpPr>
              <p:cNvPr id="928" name="Google Shape;928;p59"/>
              <p:cNvSpPr txBox="1"/>
              <p:nvPr/>
            </p:nvSpPr>
            <p:spPr>
              <a:xfrm>
                <a:off x="7727125" y="2860750"/>
                <a:ext cx="388500" cy="33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00%</a:t>
                </a:r>
                <a:endParaRPr sz="1000">
                  <a:solidFill>
                    <a:schemeClr val="lt1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</p:txBody>
          </p:sp>
        </p:grpSp>
      </p:grpSp>
      <p:sp>
        <p:nvSpPr>
          <p:cNvPr id="929" name="Google Shape;929;p59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Demonstrate the benefits of the partnership through charts, graphs, and statistics. Use this space to explain what the data shows and how it impacts both businesses.</a:t>
            </a:r>
            <a:endParaRPr/>
          </a:p>
        </p:txBody>
      </p:sp>
      <p:sp>
        <p:nvSpPr>
          <p:cNvPr id="930" name="Google Shape;930;p5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60"/>
          <p:cNvSpPr/>
          <p:nvPr/>
        </p:nvSpPr>
        <p:spPr>
          <a:xfrm>
            <a:off x="228609" y="15834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36" name="Google Shape;936;p60"/>
          <p:cNvGrpSpPr/>
          <p:nvPr/>
        </p:nvGrpSpPr>
        <p:grpSpPr>
          <a:xfrm rot="-5400000">
            <a:off x="2012115" y="1725986"/>
            <a:ext cx="204654" cy="205433"/>
            <a:chOff x="259788" y="1923155"/>
            <a:chExt cx="409800" cy="409800"/>
          </a:xfrm>
        </p:grpSpPr>
        <p:sp>
          <p:nvSpPr>
            <p:cNvPr id="937" name="Google Shape;937;p6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38" name="Google Shape;938;p6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939" name="Google Shape;939;p6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0" name="Google Shape;940;p6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1" name="Google Shape;941;p60"/>
          <p:cNvSpPr/>
          <p:nvPr/>
        </p:nvSpPr>
        <p:spPr>
          <a:xfrm>
            <a:off x="2422036" y="15834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42" name="Google Shape;942;p60"/>
          <p:cNvGrpSpPr/>
          <p:nvPr/>
        </p:nvGrpSpPr>
        <p:grpSpPr>
          <a:xfrm rot="-5400000">
            <a:off x="4205542" y="1725986"/>
            <a:ext cx="204654" cy="205433"/>
            <a:chOff x="259788" y="1923155"/>
            <a:chExt cx="409800" cy="409800"/>
          </a:xfrm>
        </p:grpSpPr>
        <p:sp>
          <p:nvSpPr>
            <p:cNvPr id="943" name="Google Shape;943;p6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44" name="Google Shape;944;p6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945" name="Google Shape;945;p6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6" name="Google Shape;946;p6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7" name="Google Shape;947;p60"/>
          <p:cNvSpPr/>
          <p:nvPr/>
        </p:nvSpPr>
        <p:spPr>
          <a:xfrm>
            <a:off x="6813635" y="1583400"/>
            <a:ext cx="20931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48" name="Google Shape;948;p60"/>
          <p:cNvGrpSpPr/>
          <p:nvPr/>
        </p:nvGrpSpPr>
        <p:grpSpPr>
          <a:xfrm rot="-5400000">
            <a:off x="8589916" y="1726375"/>
            <a:ext cx="204654" cy="204654"/>
            <a:chOff x="259788" y="1923155"/>
            <a:chExt cx="409800" cy="409800"/>
          </a:xfrm>
        </p:grpSpPr>
        <p:sp>
          <p:nvSpPr>
            <p:cNvPr id="949" name="Google Shape;949;p6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50" name="Google Shape;950;p6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951" name="Google Shape;951;p6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2" name="Google Shape;952;p6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53" name="Google Shape;953;p60"/>
          <p:cNvSpPr/>
          <p:nvPr/>
        </p:nvSpPr>
        <p:spPr>
          <a:xfrm>
            <a:off x="4615424" y="1583400"/>
            <a:ext cx="2101200" cy="13596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54" name="Google Shape;954;p60"/>
          <p:cNvGrpSpPr/>
          <p:nvPr/>
        </p:nvGrpSpPr>
        <p:grpSpPr>
          <a:xfrm rot="-5400000">
            <a:off x="6398930" y="1725986"/>
            <a:ext cx="204654" cy="205433"/>
            <a:chOff x="259788" y="1923155"/>
            <a:chExt cx="409800" cy="409800"/>
          </a:xfrm>
        </p:grpSpPr>
        <p:sp>
          <p:nvSpPr>
            <p:cNvPr id="955" name="Google Shape;955;p60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56" name="Google Shape;956;p60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957" name="Google Shape;957;p6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" name="Google Shape;958;p6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59" name="Google Shape;959;p6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960" name="Google Shape;960;p6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961" name="Google Shape;961;p60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62" name="Google Shape;962;p60"/>
          <p:cNvSpPr txBox="1"/>
          <p:nvPr>
            <p:ph idx="19"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963" name="Google Shape;963;p60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64" name="Google Shape;964;p60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965" name="Google Shape;965;p60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r>
              <a:rPr lang="en"/>
              <a:t> the next steps of the partnership plan.</a:t>
            </a:r>
            <a:endParaRPr/>
          </a:p>
        </p:txBody>
      </p:sp>
      <p:sp>
        <p:nvSpPr>
          <p:cNvPr id="966" name="Google Shape;966;p60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67" name="Google Shape;967;p60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968" name="Google Shape;968;p60"/>
          <p:cNvSpPr txBox="1"/>
          <p:nvPr>
            <p:ph idx="9" type="body"/>
          </p:nvPr>
        </p:nvSpPr>
        <p:spPr>
          <a:xfrm>
            <a:off x="2543875" y="2465025"/>
            <a:ext cx="17949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 a deadline for drafting a </a:t>
            </a:r>
            <a:r>
              <a:rPr lang="en"/>
              <a:t>partnership</a:t>
            </a:r>
            <a:r>
              <a:rPr lang="en"/>
              <a:t> agreement, for example.</a:t>
            </a:r>
            <a:endParaRPr/>
          </a:p>
        </p:txBody>
      </p:sp>
      <p:sp>
        <p:nvSpPr>
          <p:cNvPr id="969" name="Google Shape;969;p60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70" name="Google Shape;970;p60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971" name="Google Shape;971;p60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Deliver the implementation plan for the partnership.</a:t>
            </a:r>
            <a:endParaRPr/>
          </a:p>
        </p:txBody>
      </p:sp>
      <p:sp>
        <p:nvSpPr>
          <p:cNvPr id="972" name="Google Shape;972;p60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73" name="Google Shape;973;p60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Quarter, Year</a:t>
            </a:r>
            <a:endParaRPr/>
          </a:p>
        </p:txBody>
      </p:sp>
      <p:sp>
        <p:nvSpPr>
          <p:cNvPr id="974" name="Google Shape;974;p60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Allocate resources and decide on communication channels.</a:t>
            </a:r>
            <a:endParaRPr/>
          </a:p>
        </p:txBody>
      </p:sp>
      <p:sp>
        <p:nvSpPr>
          <p:cNvPr id="975" name="Google Shape;975;p6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981" name="Google Shape;981;p6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982" name="Google Shape;982;p61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3" name="Google Shape;983;p61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6080700" y="2888275"/>
            <a:ext cx="2835000" cy="15645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5" name="Google Shape;985;p61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Ready for what’s next?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Let’s </a:t>
            </a: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talk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Full Name (of the point of contact)</a:t>
            </a:r>
            <a:endParaRPr sz="16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Email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Phone number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6" name="Google Shape;986;p6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